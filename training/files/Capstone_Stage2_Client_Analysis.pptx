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cdffb1e-1aca-2301-548b-2ec45d8f33f2}">
          <p14:sldIdLst>
            <p14:sldId id="256"/>
            <p14:sldId id="257"/>
            <p14:sldId id="258"/>
          </p14:sldIdLst>
        </p14:section>
        <p14:section name="Step 0 - Prepare" id="{8b390bf4-8404-1a25-d407-c3b8a1552ded}">
          <p14:sldIdLst>
            <p14:sldId id="259"/>
            <p14:sldId id="260"/>
            <p14:sldId id="261"/>
          </p14:sldIdLst>
        </p14:section>
        <p14:section name="Step 1 - Website and tracking" id="{4a38a78c-0de0-78c8-bd81-427b2ac94738}">
          <p14:sldIdLst>
            <p14:sldId id="262"/>
            <p14:sldId id="263"/>
          </p14:sldIdLst>
        </p14:section>
        <p14:section name="Step 2 - Traffic and keywords" id="{ffd0eba0-a5d9-0c33-02ae-96a15b638550}">
          <p14:sldIdLst>
            <p14:sldId id="264"/>
            <p14:sldId id="265"/>
          </p14:sldIdLst>
        </p14:section>
        <p14:section name="Step 3 - Google and Maps" id="{4b8bfa78-da83-e75d-0833-686f42449ed9}">
          <p14:sldIdLst>
            <p14:sldId id="266"/>
            <p14:sldId id="267"/>
          </p14:sldIdLst>
        </p14:section>
        <p14:section name="Step 4 - Social and ads" id="{c55ebc97-6274-a027-5b1a-8ad927d63177}">
          <p14:sldIdLst>
            <p14:sldId id="268"/>
            <p14:sldId id="269"/>
          </p14:sldIdLst>
        </p14:section>
        <p14:section name="Step 5 - Issue Log" id="{b687e320-a224-2094-504c-9cd761abefce}">
          <p14:sldIdLst>
            <p14:sldId id="270"/>
            <p14:sldId id="271"/>
            <p14:sldId id="272"/>
          </p14:sldIdLst>
        </p14:section>
        <p14:section name="Submit" id="{58477732-5795-c10d-f4ac-24cf9d0f9edf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2 of the capstone: students analyse a real client from the outside, using only public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1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78638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68680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Capstone Stage 2  ·  Digital Marketing &amp; AI  ·  Oreegami Mauritius</a:t>
            </a:r>
            <a:endParaRPr lang="en-US" sz="1000" dirty="0"/>
          </a:p>
        </p:txBody>
      </p:sp>
      <p:pic>
        <p:nvPicPr>
          <p:cNvPr id="5" name="Image 0" descr="/tmp/claude-0/-home-claude/dbcd6e45-a2e7-5d1a-8a13-3c1033e7fb3e/scratchpad/cap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329184"/>
            <a:ext cx="960120" cy="411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0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0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Capstone Stage 2: Analyse Your Client Online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A step-by-step guide using free public tools: website, Google, Facebook, Instagram and ads</a:t>
            </a:r>
            <a:endParaRPr lang="en-US" sz="2000" dirty="0"/>
          </a:p>
        </p:txBody>
      </p:sp>
      <p:sp>
        <p:nvSpPr>
          <p:cNvPr id="4" name="card-1"/>
          <p:cNvSpPr/>
          <p:nvPr/>
        </p:nvSpPr>
        <p:spPr>
          <a:xfrm>
            <a:off x="548640" y="548640"/>
            <a:ext cx="23774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tmp/claude-0/-home-claude/dbcd6e45-a2e7-5d1a-8a13-3c1033e7fb3e/scratchpad/cap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58368"/>
            <a:ext cx="192024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Digital Marketing &amp; AI Bootcamp</a:t>
            </a:r>
            <a:endParaRPr lang="en-US" sz="1400" dirty="0"/>
          </a:p>
        </p:txBody>
      </p:sp>
      <p:sp>
        <p:nvSpPr>
          <p:cNvPr id="7" name="chip-0"/>
          <p:cNvSpPr/>
          <p:nvPr/>
        </p:nvSpPr>
        <p:spPr>
          <a:xfrm>
            <a:off x="8961120" y="1188720"/>
            <a:ext cx="2697480" cy="566928"/>
          </a:xfrm>
          <a:prstGeom prst="roundRect">
            <a:avLst>
              <a:gd name="adj" fmla="val 50000"/>
            </a:avLst>
          </a:prstGeom>
          <a:solidFill>
            <a:srgbClr val="F2A03D"/>
          </a:solidFill>
          <a:ln w="12700">
            <a:solidFill>
              <a:srgbClr val="F2A0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89720" y="11887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0 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Prepare</a:t>
            </a:r>
            <a:endParaRPr lang="en-US" sz="1500" dirty="0"/>
          </a:p>
        </p:txBody>
      </p:sp>
      <p:sp>
        <p:nvSpPr>
          <p:cNvPr id="9" name="chip-1"/>
          <p:cNvSpPr/>
          <p:nvPr/>
        </p:nvSpPr>
        <p:spPr>
          <a:xfrm>
            <a:off x="8961120" y="1938528"/>
            <a:ext cx="2697480" cy="566928"/>
          </a:xfrm>
          <a:prstGeom prst="roundRect">
            <a:avLst>
              <a:gd name="adj" fmla="val 50000"/>
            </a:avLst>
          </a:prstGeom>
          <a:solidFill>
            <a:srgbClr val="2B3260"/>
          </a:solidFill>
          <a:ln w="12700">
            <a:solidFill>
              <a:srgbClr val="2B326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89720" y="193852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1 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Website &amp; tracking</a:t>
            </a:r>
            <a:endParaRPr lang="en-US" sz="1500" dirty="0"/>
          </a:p>
        </p:txBody>
      </p:sp>
      <p:sp>
        <p:nvSpPr>
          <p:cNvPr id="11" name="chip-2"/>
          <p:cNvSpPr/>
          <p:nvPr/>
        </p:nvSpPr>
        <p:spPr>
          <a:xfrm>
            <a:off x="8961120" y="2688336"/>
            <a:ext cx="2697480" cy="566928"/>
          </a:xfrm>
          <a:prstGeom prst="roundRect">
            <a:avLst>
              <a:gd name="adj" fmla="val 50000"/>
            </a:avLst>
          </a:prstGeom>
          <a:solidFill>
            <a:srgbClr val="2B3260"/>
          </a:solidFill>
          <a:ln w="12700">
            <a:solidFill>
              <a:srgbClr val="2B326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89720" y="268833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2 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Traffic &amp; keywords</a:t>
            </a:r>
            <a:endParaRPr lang="en-US" sz="1500" dirty="0"/>
          </a:p>
        </p:txBody>
      </p:sp>
      <p:sp>
        <p:nvSpPr>
          <p:cNvPr id="13" name="chip-3"/>
          <p:cNvSpPr/>
          <p:nvPr/>
        </p:nvSpPr>
        <p:spPr>
          <a:xfrm>
            <a:off x="8961120" y="3438144"/>
            <a:ext cx="2697480" cy="566928"/>
          </a:xfrm>
          <a:prstGeom prst="roundRect">
            <a:avLst>
              <a:gd name="adj" fmla="val 50000"/>
            </a:avLst>
          </a:prstGeom>
          <a:solidFill>
            <a:srgbClr val="2B3260"/>
          </a:solidFill>
          <a:ln w="12700">
            <a:solidFill>
              <a:srgbClr val="2B326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89720" y="343814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3 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Google &amp; Maps</a:t>
            </a:r>
            <a:endParaRPr lang="en-US" sz="1500" dirty="0"/>
          </a:p>
        </p:txBody>
      </p:sp>
      <p:sp>
        <p:nvSpPr>
          <p:cNvPr id="15" name="chip-4"/>
          <p:cNvSpPr/>
          <p:nvPr/>
        </p:nvSpPr>
        <p:spPr>
          <a:xfrm>
            <a:off x="8961120" y="4187952"/>
            <a:ext cx="2697480" cy="566928"/>
          </a:xfrm>
          <a:prstGeom prst="roundRect">
            <a:avLst>
              <a:gd name="adj" fmla="val 50000"/>
            </a:avLst>
          </a:prstGeom>
          <a:solidFill>
            <a:srgbClr val="2B3260"/>
          </a:solidFill>
          <a:ln w="12700">
            <a:solidFill>
              <a:srgbClr val="2B326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89720" y="41879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4 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Social &amp; ads</a:t>
            </a:r>
            <a:endParaRPr lang="en-US" sz="1500" dirty="0"/>
          </a:p>
        </p:txBody>
      </p:sp>
      <p:sp>
        <p:nvSpPr>
          <p:cNvPr id="17" name="chip-5"/>
          <p:cNvSpPr/>
          <p:nvPr/>
        </p:nvSpPr>
        <p:spPr>
          <a:xfrm>
            <a:off x="8961120" y="4937760"/>
            <a:ext cx="2697480" cy="566928"/>
          </a:xfrm>
          <a:prstGeom prst="roundRect">
            <a:avLst>
              <a:gd name="adj" fmla="val 50000"/>
            </a:avLst>
          </a:prstGeom>
          <a:solidFill>
            <a:srgbClr val="2B3260"/>
          </a:solidFill>
          <a:ln w="12700">
            <a:solidFill>
              <a:srgbClr val="2B326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89720" y="49377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5 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Issue Log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OVERVIEW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Stage 2 turns your research into a list of real problems</a:t>
            </a:r>
            <a:endParaRPr lang="en-US" sz="3400" dirty="0"/>
          </a:p>
        </p:txBody>
      </p:sp>
      <p:sp>
        <p:nvSpPr>
          <p:cNvPr id="4" name="card-2"/>
          <p:cNvSpPr/>
          <p:nvPr/>
        </p:nvSpPr>
        <p:spPr>
          <a:xfrm>
            <a:off x="548640" y="1691640"/>
            <a:ext cx="3502152" cy="2240280"/>
          </a:xfrm>
          <a:prstGeom prst="roundRect">
            <a:avLst>
              <a:gd name="adj" fmla="val 4898"/>
            </a:avLst>
          </a:prstGeom>
          <a:solidFill>
            <a:srgbClr val="F3F2FB"/>
          </a:solidFill>
          <a:ln w="12700">
            <a:solidFill>
              <a:srgbClr val="F3F2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4767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STAGE 1  ·  Done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1343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Market research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You know the client, its customers and its competitors</a:t>
            </a:r>
            <a:endParaRPr lang="en-US" sz="1500" dirty="0"/>
          </a:p>
        </p:txBody>
      </p:sp>
      <p:sp>
        <p:nvSpPr>
          <p:cNvPr id="8" name="card-3"/>
          <p:cNvSpPr/>
          <p:nvPr/>
        </p:nvSpPr>
        <p:spPr>
          <a:xfrm>
            <a:off x="4325112" y="1691640"/>
            <a:ext cx="3502152" cy="2240280"/>
          </a:xfrm>
          <a:prstGeom prst="roundRect">
            <a:avLst>
              <a:gd name="adj" fmla="val 4898"/>
            </a:avLst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99432" y="194767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STAGE 2  ·  Now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231343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Analyse and find issues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88036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Check the client's website, Google, social media and ads with free tools</a:t>
            </a:r>
            <a:endParaRPr lang="en-US" sz="1500" dirty="0"/>
          </a:p>
        </p:txBody>
      </p:sp>
      <p:sp>
        <p:nvSpPr>
          <p:cNvPr id="12" name="card-4"/>
          <p:cNvSpPr/>
          <p:nvPr/>
        </p:nvSpPr>
        <p:spPr>
          <a:xfrm>
            <a:off x="8101584" y="1691640"/>
            <a:ext cx="3502152" cy="2240280"/>
          </a:xfrm>
          <a:prstGeom prst="roundRect">
            <a:avLst>
              <a:gd name="adj" fmla="val 4898"/>
            </a:avLst>
          </a:prstGeom>
          <a:solidFill>
            <a:srgbClr val="F3F2FB"/>
          </a:solidFill>
          <a:ln w="12700">
            <a:solidFill>
              <a:srgbClr val="F3F2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75904" y="194767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STAGE 3  ·  Next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231343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Strategy and presentation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288036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Your plan to fix the top issues, presented in the capstone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you hand in</a:t>
            </a:r>
            <a:endParaRPr lang="en-US" sz="2000" dirty="0"/>
          </a:p>
        </p:txBody>
      </p:sp>
      <p:sp>
        <p:nvSpPr>
          <p:cNvPr id="17" name="badge-5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754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Issue Log
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10 to 15 problems, each with evidence, ranked by priority</a:t>
            </a:r>
            <a:endParaRPr lang="en-US" sz="1500" dirty="0"/>
          </a:p>
        </p:txBody>
      </p:sp>
      <p:sp>
        <p:nvSpPr>
          <p:cNvPr id="20" name="badge-6"/>
          <p:cNvSpPr/>
          <p:nvPr/>
        </p:nvSpPr>
        <p:spPr>
          <a:xfrm>
            <a:off x="4325112" y="4800600"/>
            <a:ext cx="457200" cy="457200"/>
          </a:xfrm>
          <a:prstGeom prst="ellipse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25112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965192" y="4754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Screenshot folder
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One screenshot per issue, named with the issue number</a:t>
            </a:r>
            <a:endParaRPr lang="en-US" sz="1500" dirty="0"/>
          </a:p>
        </p:txBody>
      </p:sp>
      <p:sp>
        <p:nvSpPr>
          <p:cNvPr id="23" name="badge-7"/>
          <p:cNvSpPr/>
          <p:nvPr/>
        </p:nvSpPr>
        <p:spPr>
          <a:xfrm>
            <a:off x="8101584" y="4800600"/>
            <a:ext cx="457200" cy="457200"/>
          </a:xfrm>
          <a:prstGeom prst="ellipse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01584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741664" y="4754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One-page summary
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Your top 3 issues and why they matter for the business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0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THE PLAN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Six steps, about 6 hours of work in total</a:t>
            </a:r>
            <a:endParaRPr lang="en-US" sz="3400" dirty="0"/>
          </a:p>
        </p:txBody>
      </p:sp>
      <p:sp>
        <p:nvSpPr>
          <p:cNvPr id="4" name="card-8"/>
          <p:cNvSpPr/>
          <p:nvPr/>
        </p:nvSpPr>
        <p:spPr>
          <a:xfrm>
            <a:off x="548640" y="1828800"/>
            <a:ext cx="1658569" cy="3291840"/>
          </a:xfrm>
          <a:prstGeom prst="roundRect">
            <a:avLst>
              <a:gd name="adj" fmla="val 6616"/>
            </a:avLst>
          </a:prstGeom>
          <a:solidFill>
            <a:srgbClr val="F3F2FB"/>
          </a:solidFill>
          <a:ln w="12700">
            <a:solidFill>
              <a:srgbClr val="F3F2FB"/>
            </a:solidFill>
            <a:prstDash val="solid"/>
          </a:ln>
        </p:spPr>
      </p:sp>
      <p:sp>
        <p:nvSpPr>
          <p:cNvPr id="5" name="badge-9"/>
          <p:cNvSpPr/>
          <p:nvPr/>
        </p:nvSpPr>
        <p:spPr>
          <a:xfrm>
            <a:off x="1012165" y="2148840"/>
            <a:ext cx="731520" cy="731520"/>
          </a:xfrm>
          <a:prstGeom prst="ellipse">
            <a:avLst/>
          </a:prstGeom>
          <a:solidFill>
            <a:srgbClr val="F2A03D"/>
          </a:solidFill>
          <a:ln w="12700">
            <a:solidFill>
              <a:srgbClr val="F2A0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2165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0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63240"/>
            <a:ext cx="13842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Prepare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749040"/>
            <a:ext cx="13842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Links, competitors, folder, template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572000"/>
            <a:ext cx="13842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15 min</a:t>
            </a:r>
            <a:endParaRPr lang="en-US" sz="1400" dirty="0"/>
          </a:p>
        </p:txBody>
      </p:sp>
      <p:sp>
        <p:nvSpPr>
          <p:cNvPr id="10" name="card-10"/>
          <p:cNvSpPr/>
          <p:nvPr/>
        </p:nvSpPr>
        <p:spPr>
          <a:xfrm>
            <a:off x="2435809" y="1828800"/>
            <a:ext cx="1658569" cy="3291840"/>
          </a:xfrm>
          <a:prstGeom prst="roundRect">
            <a:avLst>
              <a:gd name="adj" fmla="val 6616"/>
            </a:avLst>
          </a:prstGeom>
          <a:solidFill>
            <a:srgbClr val="F3F2FB"/>
          </a:solidFill>
          <a:ln w="12700">
            <a:solidFill>
              <a:srgbClr val="F3F2FB"/>
            </a:solidFill>
            <a:prstDash val="solid"/>
          </a:ln>
        </p:spPr>
      </p:sp>
      <p:sp>
        <p:nvSpPr>
          <p:cNvPr id="11" name="badge-11"/>
          <p:cNvSpPr/>
          <p:nvPr/>
        </p:nvSpPr>
        <p:spPr>
          <a:xfrm>
            <a:off x="2899334" y="2148840"/>
            <a:ext cx="731520" cy="731520"/>
          </a:xfrm>
          <a:prstGeom prst="ellipse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99334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572969" y="3063240"/>
            <a:ext cx="13842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Website &amp; tracking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572969" y="3749040"/>
            <a:ext cx="13842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Speed, tags, Pixel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572969" y="4572000"/>
            <a:ext cx="13842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 h</a:t>
            </a:r>
            <a:endParaRPr lang="en-US" sz="1400" dirty="0"/>
          </a:p>
        </p:txBody>
      </p:sp>
      <p:sp>
        <p:nvSpPr>
          <p:cNvPr id="16" name="card-12"/>
          <p:cNvSpPr/>
          <p:nvPr/>
        </p:nvSpPr>
        <p:spPr>
          <a:xfrm>
            <a:off x="4322978" y="1828800"/>
            <a:ext cx="1658569" cy="3291840"/>
          </a:xfrm>
          <a:prstGeom prst="roundRect">
            <a:avLst>
              <a:gd name="adj" fmla="val 6616"/>
            </a:avLst>
          </a:prstGeom>
          <a:solidFill>
            <a:srgbClr val="F3F2FB"/>
          </a:solidFill>
          <a:ln w="12700">
            <a:solidFill>
              <a:srgbClr val="F3F2FB"/>
            </a:solidFill>
            <a:prstDash val="solid"/>
          </a:ln>
        </p:spPr>
      </p:sp>
      <p:sp>
        <p:nvSpPr>
          <p:cNvPr id="17" name="badge-13"/>
          <p:cNvSpPr/>
          <p:nvPr/>
        </p:nvSpPr>
        <p:spPr>
          <a:xfrm>
            <a:off x="4786503" y="2148840"/>
            <a:ext cx="731520" cy="731520"/>
          </a:xfrm>
          <a:prstGeom prst="ellipse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86503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460138" y="3063240"/>
            <a:ext cx="13842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Traffic &amp; keywords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460138" y="3749040"/>
            <a:ext cx="13842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Similarweb, Ubersuggest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460138" y="4572000"/>
            <a:ext cx="13842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 h</a:t>
            </a:r>
            <a:endParaRPr lang="en-US" sz="1400" dirty="0"/>
          </a:p>
        </p:txBody>
      </p:sp>
      <p:sp>
        <p:nvSpPr>
          <p:cNvPr id="22" name="card-14"/>
          <p:cNvSpPr/>
          <p:nvPr/>
        </p:nvSpPr>
        <p:spPr>
          <a:xfrm>
            <a:off x="6210148" y="1828800"/>
            <a:ext cx="1658569" cy="3291840"/>
          </a:xfrm>
          <a:prstGeom prst="roundRect">
            <a:avLst>
              <a:gd name="adj" fmla="val 6616"/>
            </a:avLst>
          </a:prstGeom>
          <a:solidFill>
            <a:srgbClr val="F3F2FB"/>
          </a:solidFill>
          <a:ln w="12700">
            <a:solidFill>
              <a:srgbClr val="F3F2FB"/>
            </a:solidFill>
            <a:prstDash val="solid"/>
          </a:ln>
        </p:spPr>
      </p:sp>
      <p:sp>
        <p:nvSpPr>
          <p:cNvPr id="23" name="badge-15"/>
          <p:cNvSpPr/>
          <p:nvPr/>
        </p:nvSpPr>
        <p:spPr>
          <a:xfrm>
            <a:off x="6673672" y="2148840"/>
            <a:ext cx="731520" cy="731520"/>
          </a:xfrm>
          <a:prstGeom prst="ellipse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73672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347308" y="3063240"/>
            <a:ext cx="13842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Google &amp; Maps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347308" y="3749040"/>
            <a:ext cx="13842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Searches, Business Profile, reviews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347308" y="4572000"/>
            <a:ext cx="13842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 h</a:t>
            </a:r>
            <a:endParaRPr lang="en-US" sz="1400" dirty="0"/>
          </a:p>
        </p:txBody>
      </p:sp>
      <p:sp>
        <p:nvSpPr>
          <p:cNvPr id="28" name="card-16"/>
          <p:cNvSpPr/>
          <p:nvPr/>
        </p:nvSpPr>
        <p:spPr>
          <a:xfrm>
            <a:off x="8097317" y="1828800"/>
            <a:ext cx="1658569" cy="3291840"/>
          </a:xfrm>
          <a:prstGeom prst="roundRect">
            <a:avLst>
              <a:gd name="adj" fmla="val 6616"/>
            </a:avLst>
          </a:prstGeom>
          <a:solidFill>
            <a:srgbClr val="F3F2FB"/>
          </a:solidFill>
          <a:ln w="12700">
            <a:solidFill>
              <a:srgbClr val="F3F2FB"/>
            </a:solidFill>
            <a:prstDash val="solid"/>
          </a:ln>
        </p:spPr>
      </p:sp>
      <p:sp>
        <p:nvSpPr>
          <p:cNvPr id="29" name="badge-17"/>
          <p:cNvSpPr/>
          <p:nvPr/>
        </p:nvSpPr>
        <p:spPr>
          <a:xfrm>
            <a:off x="8560841" y="2148840"/>
            <a:ext cx="731520" cy="731520"/>
          </a:xfrm>
          <a:prstGeom prst="ellipse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60841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8234477" y="3063240"/>
            <a:ext cx="13842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Social &amp; ads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234477" y="3749040"/>
            <a:ext cx="13842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Pages, engagement, ad libraries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34477" y="4572000"/>
            <a:ext cx="13842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1.5 h</a:t>
            </a:r>
            <a:endParaRPr lang="en-US" sz="1400" dirty="0"/>
          </a:p>
        </p:txBody>
      </p:sp>
      <p:sp>
        <p:nvSpPr>
          <p:cNvPr id="34" name="card-18"/>
          <p:cNvSpPr/>
          <p:nvPr/>
        </p:nvSpPr>
        <p:spPr>
          <a:xfrm>
            <a:off x="9984486" y="1828800"/>
            <a:ext cx="1658569" cy="3291840"/>
          </a:xfrm>
          <a:prstGeom prst="roundRect">
            <a:avLst>
              <a:gd name="adj" fmla="val 6616"/>
            </a:avLst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sp>
        <p:nvSpPr>
          <p:cNvPr id="35" name="badge-19"/>
          <p:cNvSpPr/>
          <p:nvPr/>
        </p:nvSpPr>
        <p:spPr>
          <a:xfrm>
            <a:off x="10448011" y="2148840"/>
            <a:ext cx="731520" cy="731520"/>
          </a:xfrm>
          <a:prstGeom prst="ellipse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48011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10121646" y="3063240"/>
            <a:ext cx="13842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Issue Log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10121646" y="3749040"/>
            <a:ext cx="13842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Write, score, rank, summarise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0121646" y="4572000"/>
            <a:ext cx="13842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 h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Do the steps in order: each step feeds the Issue Log in Step 5. Steps 1 to 4 are done for the client AND its 2 competitors from Stage 1.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0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STEP 0 · PREPARE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You only use what anyone can see in public</a:t>
            </a:r>
            <a:endParaRPr lang="en-US" sz="3400" dirty="0"/>
          </a:p>
        </p:txBody>
      </p:sp>
      <p:sp>
        <p:nvSpPr>
          <p:cNvPr id="4" name="card-20"/>
          <p:cNvSpPr/>
          <p:nvPr/>
        </p:nvSpPr>
        <p:spPr>
          <a:xfrm>
            <a:off x="548640" y="1645920"/>
            <a:ext cx="5394960" cy="4343400"/>
          </a:xfrm>
          <a:prstGeom prst="roundRect">
            <a:avLst>
              <a:gd name="adj" fmla="val 2526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" name="card-21"/>
          <p:cNvSpPr/>
          <p:nvPr/>
        </p:nvSpPr>
        <p:spPr>
          <a:xfrm>
            <a:off x="6245352" y="1645920"/>
            <a:ext cx="5394960" cy="4343400"/>
          </a:xfrm>
          <a:prstGeom prst="roundRect">
            <a:avLst>
              <a:gd name="adj" fmla="val 2526"/>
            </a:avLst>
          </a:prstGeom>
          <a:solidFill>
            <a:srgbClr val="FDECEB"/>
          </a:solidFill>
          <a:ln w="12700">
            <a:solidFill>
              <a:srgbClr val="FDEC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4"/>
                </a:solidFill>
              </a:rPr>
              <a:t>You CAN see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Website speed, structure and page titles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Which tracking tags are installed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Where the client appears on Google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Estimated traffic and keywords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Google rating, reviews and replies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Followers, posts, likes, comments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Which ads are running and since when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19672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3"/>
                </a:solidFill>
              </a:rPr>
              <a:t>You CANNOT see (never guess it)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3774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Real visitor numbers (Google Analytics)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Real search clicks (Search Console)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Reach and impressions on social media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 spend and ad results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Sales, bookings and calls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4892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This is how agencies prepare a pitch: they audit a business from the outside before they ever get access.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0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STEP 0 · PREPARE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Get ready in 15 minutes, and respect the client's business</a:t>
            </a:r>
            <a:endParaRPr lang="en-US" sz="3400" dirty="0"/>
          </a:p>
        </p:txBody>
      </p:sp>
      <p:sp>
        <p:nvSpPr>
          <p:cNvPr id="4" name="badge-22"/>
          <p:cNvSpPr/>
          <p:nvPr/>
        </p:nvSpPr>
        <p:spPr>
          <a:xfrm>
            <a:off x="548640" y="1755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7373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Collect the links: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client website, Facebook page, Instagram account, Google Maps listing.</a:t>
            </a:r>
            <a:endParaRPr lang="en-US" sz="1500" dirty="0"/>
          </a:p>
        </p:txBody>
      </p:sp>
      <p:sp>
        <p:nvSpPr>
          <p:cNvPr id="7" name="badge-23"/>
          <p:cNvSpPr/>
          <p:nvPr/>
        </p:nvSpPr>
        <p:spPr>
          <a:xfrm>
            <a:off x="548640" y="25603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54203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Choose 2 competitors: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the same ones as in your Stage 1 research.</a:t>
            </a:r>
            <a:endParaRPr lang="en-US" sz="1500" dirty="0"/>
          </a:p>
        </p:txBody>
      </p:sp>
      <p:sp>
        <p:nvSpPr>
          <p:cNvPr id="10" name="badge-24"/>
          <p:cNvSpPr/>
          <p:nvPr/>
        </p:nvSpPr>
        <p:spPr>
          <a:xfrm>
            <a:off x="548640" y="33649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346704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Create a folder: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Capstone_Stage2_&lt;ClientName&gt; for your screenshots.</a:t>
            </a:r>
            <a:endParaRPr lang="en-US" sz="1500" dirty="0"/>
          </a:p>
        </p:txBody>
      </p:sp>
      <p:sp>
        <p:nvSpPr>
          <p:cNvPr id="13" name="badge-25"/>
          <p:cNvSpPr/>
          <p:nvPr/>
        </p:nvSpPr>
        <p:spPr>
          <a:xfrm>
            <a:off x="548640" y="416966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151376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Copy the Issue Log template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(Step 5) into Google Sheets.</a:t>
            </a:r>
            <a:endParaRPr lang="en-US" sz="1500" dirty="0"/>
          </a:p>
        </p:txBody>
      </p:sp>
      <p:sp>
        <p:nvSpPr>
          <p:cNvPr id="16" name="badge-26"/>
          <p:cNvSpPr/>
          <p:nvPr/>
        </p:nvSpPr>
        <p:spPr>
          <a:xfrm>
            <a:off x="548640" y="49743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95604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Use Google Chrome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with your own Gmail and Facebook accounts, never the client's.</a:t>
            </a:r>
            <a:endParaRPr lang="en-US" sz="1500" dirty="0"/>
          </a:p>
        </p:txBody>
      </p:sp>
      <p:sp>
        <p:nvSpPr>
          <p:cNvPr id="19" name="card-27"/>
          <p:cNvSpPr/>
          <p:nvPr/>
        </p:nvSpPr>
        <p:spPr>
          <a:xfrm>
            <a:off x="6903720" y="1691640"/>
            <a:ext cx="4739335" cy="4297680"/>
          </a:xfrm>
          <a:prstGeom prst="roundRect">
            <a:avLst>
              <a:gd name="adj" fmla="val 2553"/>
            </a:avLst>
          </a:prstGeom>
          <a:solidFill>
            <a:srgbClr val="FDECEB"/>
          </a:solidFill>
          <a:ln w="12700">
            <a:solidFill>
              <a:srgbClr val="FDEC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78040" y="18745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3"/>
                </a:solidFill>
              </a:rPr>
              <a:t>Ground rules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2423160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 not submit forms or send WhatsApp messages to test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 not click on the client's ads (it costs them money)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 not comment or post about your findings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 not contact the client pretending to be a customer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Look, measure and take screenshots only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0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YOUR TOOLKIT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One question, one free tool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5029200"/>
                <a:gridCol w="5333695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you are answering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website fast on a phone?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PageSpeed Insights (pagespeed.web.dev)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exactly makes the page slow?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GTmetrix (gtmetrix.com, free account)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Google Analytics or Tag Manager installed?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Tag Assistant (tagassistant.google.com)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Meta Pixel installed?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Pixel Helper (Chrome extension)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Roughly how many visitors, from where?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Similarweb (similarweb.com, free version)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Google searches bring visitors?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Ubersuggest (3 free searches a day)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does the client appear on Google?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in a private window + site: search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the client look on Google Maps?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Maps / Business Profile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active and trustworthy is the Facebook page?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page + About &gt; Page transparency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Facebook / Instagram ads are running?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Ad Library (facebook.com/ads/library)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Google ads are running?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Ads Transparency Center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Similarweb and Ubersuggest give estimates, not real figures. Always write "estimate" next to those numbers.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0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STEP 1 · WEBSITE AND TRACKING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A. Test the speed with PageSpeed Insights</a:t>
            </a:r>
            <a:endParaRPr lang="en-US" sz="3400" dirty="0"/>
          </a:p>
        </p:txBody>
      </p:sp>
      <p:sp>
        <p:nvSpPr>
          <p:cNvPr id="4" name="badge-28"/>
          <p:cNvSpPr/>
          <p:nvPr/>
        </p:nvSpPr>
        <p:spPr>
          <a:xfrm>
            <a:off x="548640" y="1755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737360"/>
            <a:ext cx="4572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Go to pagespeed.web.dev,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paste the client's home page and click Analyse.</a:t>
            </a:r>
            <a:endParaRPr lang="en-US" sz="1500" dirty="0"/>
          </a:p>
        </p:txBody>
      </p:sp>
      <p:sp>
        <p:nvSpPr>
          <p:cNvPr id="7" name="badge-29"/>
          <p:cNvSpPr/>
          <p:nvPr/>
        </p:nvSpPr>
        <p:spPr>
          <a:xfrm>
            <a:off x="548640" y="25968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578608"/>
            <a:ext cx="4572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Stay on the Mobile tab: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most visitors in Mauritius use a phone.</a:t>
            </a:r>
            <a:endParaRPr lang="en-US" sz="1500" dirty="0"/>
          </a:p>
        </p:txBody>
      </p:sp>
      <p:sp>
        <p:nvSpPr>
          <p:cNvPr id="10" name="badge-30"/>
          <p:cNvSpPr/>
          <p:nvPr/>
        </p:nvSpPr>
        <p:spPr>
          <a:xfrm>
            <a:off x="548640" y="34381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419856"/>
            <a:ext cx="4572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Write down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the Performance score and the 3 Core Web Vitals.</a:t>
            </a:r>
            <a:endParaRPr lang="en-US" sz="1500" dirty="0"/>
          </a:p>
        </p:txBody>
      </p:sp>
      <p:sp>
        <p:nvSpPr>
          <p:cNvPr id="13" name="badge-31"/>
          <p:cNvSpPr/>
          <p:nvPr/>
        </p:nvSpPr>
        <p:spPr>
          <a:xfrm>
            <a:off x="548640" y="42793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261104"/>
            <a:ext cx="4572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Copy the top 3 suggestions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from Diagnostics.</a:t>
            </a:r>
            <a:endParaRPr lang="en-US" sz="1500" dirty="0"/>
          </a:p>
        </p:txBody>
      </p:sp>
      <p:sp>
        <p:nvSpPr>
          <p:cNvPr id="16" name="badge-32"/>
          <p:cNvSpPr/>
          <p:nvPr/>
        </p:nvSpPr>
        <p:spPr>
          <a:xfrm>
            <a:off x="548640" y="51206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102352"/>
            <a:ext cx="4572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Repeat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for one key page (product, room or booking page) and for the 2 competitors.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98932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to read the results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2194560"/>
          <a:ext cx="5653735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188720"/>
                <a:gridCol w="1188720"/>
                <a:gridCol w="112745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to 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to 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to 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LCP: main content shows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s or less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to 4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 4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INP: reacts to a tap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ms or less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to 500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 500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CLS: page jumps while loading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 or less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 to 0.25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 0.25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dot-g"/>
          <p:cNvSpPr/>
          <p:nvPr/>
        </p:nvSpPr>
        <p:spPr>
          <a:xfrm>
            <a:off x="5989320" y="4663440"/>
            <a:ext cx="201168" cy="201168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55080" y="45720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Screenshot the mobile result and name it with the issue number, for example 01_PageSpeed_mobile.png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0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STEP 1 · WEBSITE AND TRACKING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B. Find the causes   C. Check the tracking</a:t>
            </a:r>
            <a:endParaRPr lang="en-US" sz="3400" dirty="0"/>
          </a:p>
        </p:txBody>
      </p:sp>
      <p:sp>
        <p:nvSpPr>
          <p:cNvPr id="4" name="card-33"/>
          <p:cNvSpPr/>
          <p:nvPr/>
        </p:nvSpPr>
        <p:spPr>
          <a:xfrm>
            <a:off x="548640" y="1645920"/>
            <a:ext cx="5394960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10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B. GTmetrix</a:t>
            </a:r>
            <a:endParaRPr lang="en-US" sz="1900" dirty="0"/>
          </a:p>
        </p:txBody>
      </p:sp>
      <p:sp>
        <p:nvSpPr>
          <p:cNvPr id="6" name="badge-34"/>
          <p:cNvSpPr/>
          <p:nvPr/>
        </p:nvSpPr>
        <p:spPr>
          <a:xfrm>
            <a:off x="822960" y="23500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33172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Test the same home page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with a free account.</a:t>
            </a:r>
            <a:endParaRPr lang="en-US" sz="1400" dirty="0"/>
          </a:p>
        </p:txBody>
      </p:sp>
      <p:sp>
        <p:nvSpPr>
          <p:cNvPr id="9" name="badge-35"/>
          <p:cNvSpPr/>
          <p:nvPr/>
        </p:nvSpPr>
        <p:spPr>
          <a:xfrm>
            <a:off x="822960" y="31729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15468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Note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the Grade (A to F), Fully Loaded Time and Total Page Size.</a:t>
            </a:r>
            <a:endParaRPr lang="en-US" sz="1400" dirty="0"/>
          </a:p>
        </p:txBody>
      </p:sp>
      <p:sp>
        <p:nvSpPr>
          <p:cNvPr id="12" name="badge-36"/>
          <p:cNvSpPr/>
          <p:nvPr/>
        </p:nvSpPr>
        <p:spPr>
          <a:xfrm>
            <a:off x="822960" y="39959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97764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Open Structure: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look for large images, too much JavaScript, no caching.</a:t>
            </a:r>
            <a:endParaRPr lang="en-US" sz="1400" dirty="0"/>
          </a:p>
        </p:txBody>
      </p:sp>
      <p:sp>
        <p:nvSpPr>
          <p:cNvPr id="15" name="card-37"/>
          <p:cNvSpPr/>
          <p:nvPr/>
        </p:nvSpPr>
        <p:spPr>
          <a:xfrm>
            <a:off x="6245352" y="1645920"/>
            <a:ext cx="5394960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19672" y="18105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C. Tag Assistant + Pixel Helper</a:t>
            </a:r>
            <a:endParaRPr lang="en-US" sz="1900" dirty="0"/>
          </a:p>
        </p:txBody>
      </p:sp>
      <p:sp>
        <p:nvSpPr>
          <p:cNvPr id="17" name="badge-38"/>
          <p:cNvSpPr/>
          <p:nvPr/>
        </p:nvSpPr>
        <p:spPr>
          <a:xfrm>
            <a:off x="6519672" y="23500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19672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068312" y="233172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tagassistant.google.com: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Add domain, Connect, click around the site.</a:t>
            </a:r>
            <a:endParaRPr lang="en-US" sz="1400" dirty="0"/>
          </a:p>
        </p:txBody>
      </p:sp>
      <p:sp>
        <p:nvSpPr>
          <p:cNvPr id="20" name="badge-39"/>
          <p:cNvSpPr/>
          <p:nvPr/>
        </p:nvSpPr>
        <p:spPr>
          <a:xfrm>
            <a:off x="6519672" y="29900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68312" y="297180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Note the tags found: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GA4 (G-), Tag Manager (GTM-), Google Ads (AW-).</a:t>
            </a:r>
            <a:endParaRPr lang="en-US" sz="1400" dirty="0"/>
          </a:p>
        </p:txBody>
      </p:sp>
      <p:sp>
        <p:nvSpPr>
          <p:cNvPr id="23" name="badge-40"/>
          <p:cNvSpPr/>
          <p:nvPr/>
        </p:nvSpPr>
        <p:spPr>
          <a:xfrm>
            <a:off x="6519672" y="36301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19672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68312" y="361188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Pixel Helper extension: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is a Meta Pixel found? Any errors?</a:t>
            </a:r>
            <a:endParaRPr lang="en-US" sz="1400" dirty="0"/>
          </a:p>
        </p:txBody>
      </p:sp>
      <p:sp>
        <p:nvSpPr>
          <p:cNvPr id="26" name="badge-41"/>
          <p:cNvSpPr/>
          <p:nvPr/>
        </p:nvSpPr>
        <p:spPr>
          <a:xfrm>
            <a:off x="6519672" y="42702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19672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68312" y="425196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List customer actions: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form, WhatsApp, phone, booking. Do not submit anything.</a:t>
            </a:r>
            <a:endParaRPr lang="en-US" sz="1400" dirty="0"/>
          </a:p>
        </p:txBody>
      </p:sp>
      <p:sp>
        <p:nvSpPr>
          <p:cNvPr id="29" name="card-42"/>
          <p:cNvSpPr/>
          <p:nvPr/>
        </p:nvSpPr>
        <p:spPr>
          <a:xfrm>
            <a:off x="548640" y="521208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ECEB"/>
          </a:solidFill>
          <a:ln w="12700">
            <a:solidFill>
              <a:srgbClr val="FDEC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321808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Typical issues to log: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mobile score under 50 · LCP over 4 s · images over 500 KB · no GA4 tag · GA4 installed twice · no Meta Pixel while the client runs Meta ads · no clear contact or booking button on mobile.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0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STEP 2 · TRAFFIC AND KEYWORDS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Estimate traffic and searches, then compare</a:t>
            </a:r>
            <a:endParaRPr lang="en-US" sz="3400" dirty="0"/>
          </a:p>
        </p:txBody>
      </p:sp>
      <p:sp>
        <p:nvSpPr>
          <p:cNvPr id="4" name="card-43"/>
          <p:cNvSpPr/>
          <p:nvPr/>
        </p:nvSpPr>
        <p:spPr>
          <a:xfrm>
            <a:off x="548640" y="1645920"/>
            <a:ext cx="539496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10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A. Similarweb</a:t>
            </a:r>
            <a:endParaRPr lang="en-US" sz="1900" dirty="0"/>
          </a:p>
        </p:txBody>
      </p:sp>
      <p:sp>
        <p:nvSpPr>
          <p:cNvPr id="6" name="badge-44"/>
          <p:cNvSpPr/>
          <p:nvPr/>
        </p:nvSpPr>
        <p:spPr>
          <a:xfrm>
            <a:off x="822960" y="23500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3317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Type the client's website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on similarweb.com.</a:t>
            </a:r>
            <a:endParaRPr lang="en-US" sz="1400" dirty="0"/>
          </a:p>
        </p:txBody>
      </p:sp>
      <p:sp>
        <p:nvSpPr>
          <p:cNvPr id="9" name="badge-45"/>
          <p:cNvSpPr/>
          <p:nvPr/>
        </p:nvSpPr>
        <p:spPr>
          <a:xfrm>
            <a:off x="822960" y="32461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22783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Write down: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visits per month, mobile vs desktop, top countries, traffic sources.</a:t>
            </a:r>
            <a:endParaRPr lang="en-US" sz="1400" dirty="0"/>
          </a:p>
        </p:txBody>
      </p:sp>
      <p:sp>
        <p:nvSpPr>
          <p:cNvPr id="12" name="badge-46"/>
          <p:cNvSpPr/>
          <p:nvPr/>
        </p:nvSpPr>
        <p:spPr>
          <a:xfrm>
            <a:off x="822960" y="41422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123944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Repeat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for the 2 competitors.</a:t>
            </a:r>
            <a:endParaRPr lang="en-US" sz="1400" dirty="0"/>
          </a:p>
        </p:txBody>
      </p:sp>
      <p:sp>
        <p:nvSpPr>
          <p:cNvPr id="15" name="badge-47"/>
          <p:cNvSpPr/>
          <p:nvPr/>
        </p:nvSpPr>
        <p:spPr>
          <a:xfrm>
            <a:off x="822960" y="50383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038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020056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"Not enough data"?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Write "Under the Similarweb threshold": the site gets very few visitors.</a:t>
            </a:r>
            <a:endParaRPr lang="en-US" sz="1400" dirty="0"/>
          </a:p>
        </p:txBody>
      </p:sp>
      <p:sp>
        <p:nvSpPr>
          <p:cNvPr id="18" name="card-48"/>
          <p:cNvSpPr/>
          <p:nvPr/>
        </p:nvSpPr>
        <p:spPr>
          <a:xfrm>
            <a:off x="6245352" y="1645920"/>
            <a:ext cx="539496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19672" y="1810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B. Ubersuggest</a:t>
            </a:r>
            <a:endParaRPr lang="en-US" sz="1900" dirty="0"/>
          </a:p>
        </p:txBody>
      </p:sp>
      <p:sp>
        <p:nvSpPr>
          <p:cNvPr id="20" name="badge-49"/>
          <p:cNvSpPr/>
          <p:nvPr/>
        </p:nvSpPr>
        <p:spPr>
          <a:xfrm>
            <a:off x="6519672" y="23500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68312" y="2331720"/>
            <a:ext cx="4389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Enter the client's website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(3 free searches a day: client + 2 competitors).</a:t>
            </a:r>
            <a:endParaRPr lang="en-US" sz="1400" dirty="0"/>
          </a:p>
        </p:txBody>
      </p:sp>
      <p:sp>
        <p:nvSpPr>
          <p:cNvPr id="23" name="badge-50"/>
          <p:cNvSpPr/>
          <p:nvPr/>
        </p:nvSpPr>
        <p:spPr>
          <a:xfrm>
            <a:off x="6519672" y="33101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19672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68312" y="3291840"/>
            <a:ext cx="4389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Write down: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organic traffic per month, number of ranking keywords, top 5 keywords.</a:t>
            </a:r>
            <a:endParaRPr lang="en-US" sz="1400" dirty="0"/>
          </a:p>
        </p:txBody>
      </p:sp>
      <p:sp>
        <p:nvSpPr>
          <p:cNvPr id="26" name="badge-51"/>
          <p:cNvSpPr/>
          <p:nvPr/>
        </p:nvSpPr>
        <p:spPr>
          <a:xfrm>
            <a:off x="6519672" y="42702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19672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68312" y="4251960"/>
            <a:ext cx="4389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Read the keywords: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mostly the client's own name, or real searches for its products?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519672" y="4983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These numbers are estimates. They are good enough to spot big gaps with competitors, not to report exact traffic.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0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STEP 2 · TRAFFIC AND KEYWORDS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C. Put the client next to its competitors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737360"/>
                <a:gridCol w="1901952"/>
                <a:gridCol w="1901952"/>
                <a:gridCol w="1895551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Visits per month (estimate)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Similarweb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share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Similarweb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traffic 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Similarweb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 traffic per month (estimate)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Ubersuggest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ranking keywords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Ubersuggest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keyword that is not the brand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Ubersuggest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rd-52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ECEB"/>
          </a:solidFill>
          <a:ln w="12700">
            <a:solidFill>
              <a:srgbClr val="FDEC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230368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Typical issues to log: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far fewer visits than competitors · almost all search traffic comes from the client's own name · competitors rank for product searches the client does not · most visitors are outside Mauritius when the client sells locally.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0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STEP 3 · GOOGLE AND MAPS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A. Can people find the client on Google?</a:t>
            </a:r>
            <a:endParaRPr lang="en-US" sz="3400" dirty="0"/>
          </a:p>
        </p:txBody>
      </p:sp>
      <p:sp>
        <p:nvSpPr>
          <p:cNvPr id="4" name="badge-53"/>
          <p:cNvSpPr/>
          <p:nvPr/>
        </p:nvSpPr>
        <p:spPr>
          <a:xfrm>
            <a:off x="548640" y="1755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737360"/>
            <a:ext cx="5852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Search site:clientwebsite.mu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on Google. How many pages appear? Are the titles clear?</a:t>
            </a:r>
            <a:endParaRPr lang="en-US" sz="1500" dirty="0"/>
          </a:p>
        </p:txBody>
      </p:sp>
      <p:sp>
        <p:nvSpPr>
          <p:cNvPr id="7" name="badge-54"/>
          <p:cNvSpPr/>
          <p:nvPr/>
        </p:nvSpPr>
        <p:spPr>
          <a:xfrm>
            <a:off x="548640" y="25968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578608"/>
            <a:ext cx="5852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Pick 5 searches a customer would type,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using Stage 1 and Keyword Planner or Ubersuggest (for example "cake shop Curepipe").</a:t>
            </a:r>
            <a:endParaRPr lang="en-US" sz="1500" dirty="0"/>
          </a:p>
        </p:txBody>
      </p:sp>
      <p:sp>
        <p:nvSpPr>
          <p:cNvPr id="10" name="badge-55"/>
          <p:cNvSpPr/>
          <p:nvPr/>
        </p:nvSpPr>
        <p:spPr>
          <a:xfrm>
            <a:off x="548640" y="34381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419856"/>
            <a:ext cx="5852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Search each one in a private window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and note the client's position: top 3, page 1, or not found.</a:t>
            </a:r>
            <a:endParaRPr lang="en-US" sz="1500" dirty="0"/>
          </a:p>
        </p:txBody>
      </p:sp>
      <p:sp>
        <p:nvSpPr>
          <p:cNvPr id="13" name="badge-56"/>
          <p:cNvSpPr/>
          <p:nvPr/>
        </p:nvSpPr>
        <p:spPr>
          <a:xfrm>
            <a:off x="548640" y="42793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261104"/>
            <a:ext cx="5852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 the same for the 2 competitors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and put the results in a table.</a:t>
            </a:r>
            <a:endParaRPr lang="en-US" sz="1500" dirty="0"/>
          </a:p>
        </p:txBody>
      </p:sp>
      <p:sp>
        <p:nvSpPr>
          <p:cNvPr id="16" name="badge-57"/>
          <p:cNvSpPr/>
          <p:nvPr/>
        </p:nvSpPr>
        <p:spPr>
          <a:xfrm>
            <a:off x="548640" y="51206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102352"/>
            <a:ext cx="5852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Check the home page result: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clear title, short description, contact details.</a:t>
            </a:r>
            <a:endParaRPr lang="en-US" sz="1500" dirty="0"/>
          </a:p>
        </p:txBody>
      </p:sp>
      <p:sp>
        <p:nvSpPr>
          <p:cNvPr id="19" name="card-58"/>
          <p:cNvSpPr/>
          <p:nvPr/>
        </p:nvSpPr>
        <p:spPr>
          <a:xfrm>
            <a:off x="7406640" y="1691640"/>
            <a:ext cx="4236415" cy="4206240"/>
          </a:xfrm>
          <a:prstGeom prst="roundRect">
            <a:avLst>
              <a:gd name="adj" fmla="val 2609"/>
            </a:avLst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3524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Example results table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2377440"/>
          <a:ext cx="3779215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914400"/>
                <a:gridCol w="94457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Comp.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found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0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STEP 3 · GOOGLE AND MAPS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B. Check the Google Business Profile on Maps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206240"/>
                <a:gridCol w="387065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sign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if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exists and is claimed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"Own this business?" link on the profile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missing or unclaimed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what the client sells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or too general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Hours, phone, website link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and complete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or out of date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Recent, real photos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 or old photos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 and number as good as competitors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rating or far fewer reviews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Replies to reviews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replies to most reviews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reviews left unanswered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rd-59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ECEB"/>
          </a:solidFill>
          <a:ln w="12700">
            <a:solidFill>
              <a:srgbClr val="FDEC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230368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Typical issues to log: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client only ranks for its own name · important pages missing from a site: search · no page titles or descriptions · no Business Profile or wrong category · fewer reviews than competitors · bad reviews with no reply.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0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STEP 4 · SOCIAL MEDIA AND ADS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A. Compare social media over the last 30 days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5895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377440"/>
                <a:gridCol w="850392"/>
                <a:gridCol w="850392"/>
                <a:gridCol w="859536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find 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Comp.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Comp.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page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Posts in the last 30 days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on the profile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likes + comments per post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10 posts added up, divided by 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rate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the formula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Reels / short video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10 posts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Replies to comments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Comments on the last 5 posts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 has link, phone or WhatsApp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page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</a:tbl>
          </a:graphicData>
        </a:graphic>
      </p:graphicFrame>
      <p:sp>
        <p:nvSpPr>
          <p:cNvPr id="5" name="card-60"/>
          <p:cNvSpPr/>
          <p:nvPr/>
        </p:nvSpPr>
        <p:spPr>
          <a:xfrm>
            <a:off x="8412480" y="1691640"/>
            <a:ext cx="3230575" cy="4343400"/>
          </a:xfrm>
          <a:prstGeom prst="roundRect">
            <a:avLst>
              <a:gd name="adj" fmla="val 3397"/>
            </a:avLst>
          </a:prstGeom>
          <a:solidFill>
            <a:srgbClr val="1B2140"/>
          </a:solidFill>
          <a:ln w="12700">
            <a:solidFill>
              <a:srgbClr val="1B214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4108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ENGAGEMENT RATE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22860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Average likes + comments ÷ followers × 100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4108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Example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36576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40 ÷ 4,000 × 100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40690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5"/>
                </a:solidFill>
              </a:rPr>
              <a:t>1%</a:t>
            </a:r>
            <a:endParaRPr lang="en-US" sz="6000" dirty="0"/>
          </a:p>
        </p:txBody>
      </p:sp>
      <p:sp>
        <p:nvSpPr>
          <p:cNvPr id="11" name="Text 8"/>
          <p:cNvSpPr txBox="1"/>
          <p:nvPr/>
        </p:nvSpPr>
        <p:spPr>
          <a:xfrm>
            <a:off x="8641080" y="50749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Do this for Facebook and Instagram (TikTok or LinkedIn if relevant).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0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STEP 4 · SOCIAL MEDIA AND ADS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B. Check trust   C. See which ads are running</a:t>
            </a:r>
            <a:endParaRPr lang="en-US" sz="3400" dirty="0"/>
          </a:p>
        </p:txBody>
      </p:sp>
      <p:sp>
        <p:nvSpPr>
          <p:cNvPr id="4" name="card-61"/>
          <p:cNvSpPr/>
          <p:nvPr/>
        </p:nvSpPr>
        <p:spPr>
          <a:xfrm>
            <a:off x="548640" y="1645920"/>
            <a:ext cx="4206240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105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B. Facebook trust check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About &gt; Page transparency: creation date, name changes, ads running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Clear profile and cover photo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Phone or WhatsApp, address, hours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Same details as the website and Google Maps</a:t>
            </a:r>
            <a:endParaRPr lang="en-US" sz="1400" dirty="0"/>
          </a:p>
        </p:txBody>
      </p:sp>
      <p:sp>
        <p:nvSpPr>
          <p:cNvPr id="7" name="card-62"/>
          <p:cNvSpPr/>
          <p:nvPr/>
        </p:nvSpPr>
        <p:spPr>
          <a:xfrm>
            <a:off x="5056632" y="1645920"/>
            <a:ext cx="6586423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30952" y="1810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C. Ad libraries</a:t>
            </a:r>
            <a:endParaRPr lang="en-US" sz="1800" dirty="0"/>
          </a:p>
        </p:txBody>
      </p:sp>
      <p:sp>
        <p:nvSpPr>
          <p:cNvPr id="9" name="badge-63"/>
          <p:cNvSpPr/>
          <p:nvPr/>
        </p:nvSpPr>
        <p:spPr>
          <a:xfrm>
            <a:off x="5330952" y="23500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0952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879592" y="2331720"/>
            <a:ext cx="54891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Meta Ad Library: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 Mauritius, All ads, search the page. Running now? How many, since when, which format?</a:t>
            </a:r>
            <a:endParaRPr lang="en-US" sz="1350" dirty="0"/>
          </a:p>
        </p:txBody>
      </p:sp>
      <p:sp>
        <p:nvSpPr>
          <p:cNvPr id="12" name="badge-64"/>
          <p:cNvSpPr/>
          <p:nvPr/>
        </p:nvSpPr>
        <p:spPr>
          <a:xfrm>
            <a:off x="5330952" y="29900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30952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879592" y="2971800"/>
            <a:ext cx="54891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Open 3 ads: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 offer, call to action, language (EN, FR, Kreol), where the ad sends people.</a:t>
            </a:r>
            <a:endParaRPr lang="en-US" sz="1350" dirty="0"/>
          </a:p>
        </p:txBody>
      </p:sp>
      <p:sp>
        <p:nvSpPr>
          <p:cNvPr id="15" name="badge-65"/>
          <p:cNvSpPr/>
          <p:nvPr/>
        </p:nvSpPr>
        <p:spPr>
          <a:xfrm>
            <a:off x="5330952" y="36301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30952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879592" y="3611880"/>
            <a:ext cx="54891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Google Ads Transparency Center: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 Search, YouTube or Display ads?</a:t>
            </a:r>
            <a:endParaRPr lang="en-US" sz="1350" dirty="0"/>
          </a:p>
        </p:txBody>
      </p:sp>
      <p:sp>
        <p:nvSpPr>
          <p:cNvPr id="18" name="badge-66"/>
          <p:cNvSpPr/>
          <p:nvPr/>
        </p:nvSpPr>
        <p:spPr>
          <a:xfrm>
            <a:off x="5330952" y="42702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30952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879592" y="4251960"/>
            <a:ext cx="54891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Repeat for the competitors.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 You cannot see spend or results: do not guess.</a:t>
            </a:r>
            <a:endParaRPr lang="en-US" sz="1350" dirty="0"/>
          </a:p>
        </p:txBody>
      </p:sp>
      <p:sp>
        <p:nvSpPr>
          <p:cNvPr id="21" name="card-67"/>
          <p:cNvSpPr/>
          <p:nvPr/>
        </p:nvSpPr>
        <p:spPr>
          <a:xfrm>
            <a:off x="548640" y="521208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ECEB"/>
          </a:solidFill>
          <a:ln w="12700">
            <a:solidFill>
              <a:srgbClr val="FDEC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321808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Typical issues to log: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fewer than 4 posts a month · engagement far below competitors · no short video · questions left unanswered · no contact in the bio · competitors advertise and the client does not · ads with no clear offer · ads sending people to an untracked page.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0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STEP 5 · ISSUE LOG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Write every issue in 4 parts</a:t>
            </a:r>
            <a:endParaRPr lang="en-US" sz="3400" dirty="0"/>
          </a:p>
        </p:txBody>
      </p:sp>
      <p:sp>
        <p:nvSpPr>
          <p:cNvPr id="4" name="card-68"/>
          <p:cNvSpPr/>
          <p:nvPr/>
        </p:nvSpPr>
        <p:spPr>
          <a:xfrm>
            <a:off x="548640" y="1691640"/>
            <a:ext cx="2567864" cy="4023360"/>
          </a:xfrm>
          <a:prstGeom prst="roundRect">
            <a:avLst>
              <a:gd name="adj" fmla="val 4273"/>
            </a:avLst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sp>
        <p:nvSpPr>
          <p:cNvPr id="5" name="badge-69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What I found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fact, with its number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31920"/>
            <a:ext cx="2019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"Mobile Performance score is 31"</a:t>
            </a:r>
            <a:endParaRPr lang="en-US" sz="1400" dirty="0"/>
          </a:p>
        </p:txBody>
      </p:sp>
      <p:sp>
        <p:nvSpPr>
          <p:cNvPr id="10" name="card-70"/>
          <p:cNvSpPr/>
          <p:nvPr/>
        </p:nvSpPr>
        <p:spPr>
          <a:xfrm>
            <a:off x="3390824" y="1691640"/>
            <a:ext cx="2567864" cy="4023360"/>
          </a:xfrm>
          <a:prstGeom prst="roundRect">
            <a:avLst>
              <a:gd name="adj" fmla="val 4273"/>
            </a:avLst>
          </a:prstGeom>
          <a:solidFill>
            <a:srgbClr val="F3F2FB"/>
          </a:solidFill>
          <a:ln w="12700">
            <a:solidFill>
              <a:srgbClr val="F3F2FB"/>
            </a:solidFill>
            <a:prstDash val="solid"/>
          </a:ln>
        </p:spPr>
      </p:sp>
      <p:sp>
        <p:nvSpPr>
          <p:cNvPr id="11" name="badge-71"/>
          <p:cNvSpPr/>
          <p:nvPr/>
        </p:nvSpPr>
        <p:spPr>
          <a:xfrm>
            <a:off x="3665144" y="1920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65144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665144" y="274320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Evidence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665144" y="320040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tool and the screenshot file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65144" y="3931920"/>
            <a:ext cx="2019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"PageSpeed Insights, screenshot 01"</a:t>
            </a:r>
            <a:endParaRPr lang="en-US" sz="1400" dirty="0"/>
          </a:p>
        </p:txBody>
      </p:sp>
      <p:sp>
        <p:nvSpPr>
          <p:cNvPr id="16" name="card-72"/>
          <p:cNvSpPr/>
          <p:nvPr/>
        </p:nvSpPr>
        <p:spPr>
          <a:xfrm>
            <a:off x="6233008" y="1691640"/>
            <a:ext cx="2567864" cy="4023360"/>
          </a:xfrm>
          <a:prstGeom prst="roundRect">
            <a:avLst>
              <a:gd name="adj" fmla="val 4273"/>
            </a:avLst>
          </a:prstGeom>
          <a:solidFill>
            <a:srgbClr val="F3F2FB"/>
          </a:solidFill>
          <a:ln w="12700">
            <a:solidFill>
              <a:srgbClr val="F3F2FB"/>
            </a:solidFill>
            <a:prstDash val="solid"/>
          </a:ln>
        </p:spPr>
      </p:sp>
      <p:sp>
        <p:nvSpPr>
          <p:cNvPr id="17" name="badge-73"/>
          <p:cNvSpPr/>
          <p:nvPr/>
        </p:nvSpPr>
        <p:spPr>
          <a:xfrm>
            <a:off x="6507328" y="1920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07328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507328" y="274320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Why it matters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507328" y="320040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effect on the business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07328" y="3931920"/>
            <a:ext cx="2019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"Most visitors use a phone; a slow page makes them leave before they see the rooms"</a:t>
            </a:r>
            <a:endParaRPr lang="en-US" sz="1400" dirty="0"/>
          </a:p>
        </p:txBody>
      </p:sp>
      <p:sp>
        <p:nvSpPr>
          <p:cNvPr id="22" name="card-74"/>
          <p:cNvSpPr/>
          <p:nvPr/>
        </p:nvSpPr>
        <p:spPr>
          <a:xfrm>
            <a:off x="9075191" y="1691640"/>
            <a:ext cx="2567864" cy="4023360"/>
          </a:xfrm>
          <a:prstGeom prst="roundRect">
            <a:avLst>
              <a:gd name="adj" fmla="val 4273"/>
            </a:avLst>
          </a:prstGeom>
          <a:solidFill>
            <a:srgbClr val="F3F2FB"/>
          </a:solidFill>
          <a:ln w="12700">
            <a:solidFill>
              <a:srgbClr val="F3F2FB"/>
            </a:solidFill>
            <a:prstDash val="solid"/>
          </a:ln>
        </p:spPr>
      </p:sp>
      <p:sp>
        <p:nvSpPr>
          <p:cNvPr id="23" name="badge-75"/>
          <p:cNvSpPr/>
          <p:nvPr/>
        </p:nvSpPr>
        <p:spPr>
          <a:xfrm>
            <a:off x="9349511" y="1920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49511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349511" y="274320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Recommendation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9349511" y="320040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clear first action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349511" y="3931920"/>
            <a:ext cx="2019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"Compress the 6 home page photos to under 200 KB each"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Example for a fictional guesthouse. A finding without a number and a screenshot does not count.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0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STEP 5 · ISSUE LOG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Score each issue, then fix quick wins first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Impact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 = loses customers or money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 = weakens results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 = small improvement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Effort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 = under a day and free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 = a few days or a small budget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 = weeks, a developer or a big budget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0749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Keep 10 to 15 issues across at least 4 areas. Merge duplicates: "slow home page" and "large images" are one issue.</a:t>
            </a:r>
            <a:endParaRPr lang="en-US" sz="1300" dirty="0"/>
          </a:p>
        </p:txBody>
      </p:sp>
      <p:sp>
        <p:nvSpPr>
          <p:cNvPr id="7" name="card-76"/>
          <p:cNvSpPr/>
          <p:nvPr/>
        </p:nvSpPr>
        <p:spPr>
          <a:xfrm>
            <a:off x="5120640" y="1691640"/>
            <a:ext cx="3154680" cy="2057400"/>
          </a:xfrm>
          <a:prstGeom prst="roundRect">
            <a:avLst>
              <a:gd name="adj" fmla="val 5333"/>
            </a:avLst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49240" y="19202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Quick win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24231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Impact 3, effort 1: do first</a:t>
            </a:r>
            <a:endParaRPr lang="en-US" sz="1400" dirty="0"/>
          </a:p>
        </p:txBody>
      </p:sp>
      <p:sp>
        <p:nvSpPr>
          <p:cNvPr id="10" name="card-77"/>
          <p:cNvSpPr/>
          <p:nvPr/>
        </p:nvSpPr>
        <p:spPr>
          <a:xfrm>
            <a:off x="8412480" y="1691640"/>
            <a:ext cx="3154680" cy="2057400"/>
          </a:xfrm>
          <a:prstGeom prst="roundRect">
            <a:avLst>
              <a:gd name="adj" fmla="val 5333"/>
            </a:avLst>
          </a:prstGeom>
          <a:solidFill>
            <a:srgbClr val="F3F2FB"/>
          </a:solidFill>
          <a:ln w="12700">
            <a:solidFill>
              <a:srgbClr val="F3F2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41080" y="19202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Big project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8641080" y="24231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Impact 3, effort 2-3: plan next</a:t>
            </a:r>
            <a:endParaRPr lang="en-US" sz="1400" dirty="0"/>
          </a:p>
        </p:txBody>
      </p:sp>
      <p:sp>
        <p:nvSpPr>
          <p:cNvPr id="13" name="card-78"/>
          <p:cNvSpPr/>
          <p:nvPr/>
        </p:nvSpPr>
        <p:spPr>
          <a:xfrm>
            <a:off x="5120640" y="3886200"/>
            <a:ext cx="3154680" cy="2057400"/>
          </a:xfrm>
          <a:prstGeom prst="roundRect">
            <a:avLst>
              <a:gd name="adj" fmla="val 5333"/>
            </a:avLst>
          </a:prstGeom>
          <a:solidFill>
            <a:srgbClr val="F3F2FB"/>
          </a:solidFill>
          <a:ln w="12700">
            <a:solidFill>
              <a:srgbClr val="F3F2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49240" y="41148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Fill-in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46177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Impact 1-2, effort 1: if time allows</a:t>
            </a:r>
            <a:endParaRPr lang="en-US" sz="1400" dirty="0"/>
          </a:p>
        </p:txBody>
      </p:sp>
      <p:sp>
        <p:nvSpPr>
          <p:cNvPr id="16" name="card-79"/>
          <p:cNvSpPr/>
          <p:nvPr/>
        </p:nvSpPr>
        <p:spPr>
          <a:xfrm>
            <a:off x="8412480" y="3886200"/>
            <a:ext cx="3154680" cy="2057400"/>
          </a:xfrm>
          <a:prstGeom prst="roundRect">
            <a:avLst>
              <a:gd name="adj" fmla="val 5333"/>
            </a:avLst>
          </a:prstGeom>
          <a:solidFill>
            <a:srgbClr val="F3F2FB"/>
          </a:solidFill>
          <a:ln w="12700">
            <a:solidFill>
              <a:srgbClr val="F3F2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41080" y="41148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Not now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46177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Impact 1-2, effort 2-3: leave for later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25146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HIGH IMPACT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977640" y="47091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LOW IMPACT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60350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LOW EFFORT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60350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MORE EFFORT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0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STEP 5 · ISSUE LOG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Issue Log template: copy it into Google Sheets</a:t>
            </a:r>
            <a:endParaRPr lang="en-US" sz="3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960120"/>
                <a:gridCol w="1600200"/>
                <a:gridCol w="1737360"/>
                <a:gridCol w="2331720"/>
                <a:gridCol w="2011680"/>
                <a:gridCol w="685800"/>
                <a:gridCol w="640080"/>
                <a:gridCol w="76169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 found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score 31, LCP 6.8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PageSpeed, 01_PageSpeed_mobile.png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visitors are on mobile (Similarweb estimate); slow pages lose bookings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 home page images, remove unused plugins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win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GA4 or Meta Pixel found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 Assistant, 02_TagAssistant.png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client cannot tell which channel brings bookings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GA4 and the Pixel via Google Tag Manager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project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40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Sort the log: Quick wins first, then Big projects. Your top 3 issues for the summary come from these two groups.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0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BEFORE YOU SUBMIT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Avoid these beginner mistakes</a:t>
            </a:r>
            <a:endParaRPr lang="en-US" sz="3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973775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Mistake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this instead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Opinions without numbers ("the website looks old")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 the number and the tool ("Mobile score 31 in PageSpeed Insights")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on desktop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use the Mobile tab and test on your own phone too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date ranges in different screenshots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the same period everywhere (last 30 days for social)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Judging numbers on their 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compare with the 2 competitors from Stage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the wrong tool (GTmetrix for SEO, followers for engagement)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the toolkit: one question, one tool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 40 small issues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10 to 15, merge duplicates, rank them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Vague recommendations ("improve SEO")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concrete first action per issue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Presenting Similarweb or Ubersuggest numbers as real figures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"estimate" next to every such number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Clicking ads, submitting forms or commenting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Look, measure and take screenshots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0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SUBMIT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to hand in and how it is marked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One-page summary</a:t>
            </a:r>
            <a:endParaRPr lang="en-US" sz="1900" dirty="0"/>
          </a:p>
        </p:txBody>
      </p:sp>
      <p:sp>
        <p:nvSpPr>
          <p:cNvPr id="5" name="badge-80"/>
          <p:cNvSpPr/>
          <p:nvPr/>
        </p:nvSpPr>
        <p:spPr>
          <a:xfrm>
            <a:off x="548640" y="2258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240280"/>
            <a:ext cx="45720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Client,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website and the date of your analysis.</a:t>
            </a:r>
            <a:endParaRPr lang="en-US" sz="1400" dirty="0"/>
          </a:p>
        </p:txBody>
      </p:sp>
      <p:sp>
        <p:nvSpPr>
          <p:cNvPr id="8" name="badge-81"/>
          <p:cNvSpPr/>
          <p:nvPr/>
        </p:nvSpPr>
        <p:spPr>
          <a:xfrm>
            <a:off x="548640" y="30358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017520"/>
            <a:ext cx="45720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Snapshot: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biggest strength online, biggest weakness.</a:t>
            </a:r>
            <a:endParaRPr lang="en-US" sz="1400" dirty="0"/>
          </a:p>
        </p:txBody>
      </p:sp>
      <p:sp>
        <p:nvSpPr>
          <p:cNvPr id="11" name="badge-82"/>
          <p:cNvSpPr/>
          <p:nvPr/>
        </p:nvSpPr>
        <p:spPr>
          <a:xfrm>
            <a:off x="548640" y="38130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794760"/>
            <a:ext cx="45720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Top 3 issues: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what, evidence, why it matters, first action.</a:t>
            </a:r>
            <a:endParaRPr lang="en-US" sz="1400" dirty="0"/>
          </a:p>
        </p:txBody>
      </p:sp>
      <p:sp>
        <p:nvSpPr>
          <p:cNvPr id="14" name="badge-83"/>
          <p:cNvSpPr/>
          <p:nvPr/>
        </p:nvSpPr>
        <p:spPr>
          <a:xfrm>
            <a:off x="548640" y="45902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90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572000"/>
            <a:ext cx="45720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Limits: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what public data cannot show (sales, ad spend) and what you would check with access.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4406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Share the Issue Log, the screenshot folder and the summary as links that anyone can view. Your trainer confirms the deadline in class.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691640"/>
          <a:ext cx="5470855" cy="914400"/>
        </p:xfrm>
        <a:graphic>
          <a:graphicData uri="http://schemas.openxmlformats.org/drawingml/2006/table">
            <a:tbl>
              <a:tblPr/>
              <a:tblGrid>
                <a:gridCol w="4434840"/>
                <a:gridCol w="1036015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Marking criterion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tool for each question, with screenshots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Accurate numbers, compared with competitors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Issues written in the 4 parts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and effort scored sensibly; log sorted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Clear, business-focused summary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Neat files: names, working links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0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Final checklist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Tick every line before you submit</a:t>
            </a:r>
            <a:endParaRPr lang="en-US" sz="2000" dirty="0"/>
          </a:p>
        </p:txBody>
      </p:sp>
      <p:sp>
        <p:nvSpPr>
          <p:cNvPr id="4" name="check-0"/>
          <p:cNvSpPr/>
          <p:nvPr/>
        </p:nvSpPr>
        <p:spPr>
          <a:xfrm>
            <a:off x="6675120" y="914400"/>
            <a:ext cx="4965192" cy="685800"/>
          </a:xfrm>
          <a:prstGeom prst="roundRect">
            <a:avLst>
              <a:gd name="adj" fmla="val 16000"/>
            </a:avLst>
          </a:prstGeom>
          <a:solidFill>
            <a:srgbClr val="2B3260"/>
          </a:solidFill>
          <a:ln w="12700">
            <a:solidFill>
              <a:srgbClr val="2B3260"/>
            </a:solidFill>
            <a:prstDash val="solid"/>
          </a:ln>
        </p:spPr>
      </p:sp>
      <p:sp>
        <p:nvSpPr>
          <p:cNvPr id="5" name="box-0"/>
          <p:cNvSpPr/>
          <p:nvPr/>
        </p:nvSpPr>
        <p:spPr>
          <a:xfrm>
            <a:off x="6858000" y="10972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2B3260"/>
          </a:solidFill>
          <a:ln w="19050">
            <a:solidFill>
              <a:srgbClr val="F2A0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60920" y="91440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 did Steps 1 to 4 for the client and its 2 competitors</a:t>
            </a:r>
            <a:endParaRPr lang="en-US" sz="1500" dirty="0"/>
          </a:p>
        </p:txBody>
      </p:sp>
      <p:sp>
        <p:nvSpPr>
          <p:cNvPr id="7" name="check-1"/>
          <p:cNvSpPr/>
          <p:nvPr/>
        </p:nvSpPr>
        <p:spPr>
          <a:xfrm>
            <a:off x="6675120" y="1783080"/>
            <a:ext cx="4965192" cy="685800"/>
          </a:xfrm>
          <a:prstGeom prst="roundRect">
            <a:avLst>
              <a:gd name="adj" fmla="val 16000"/>
            </a:avLst>
          </a:prstGeom>
          <a:solidFill>
            <a:srgbClr val="2B3260"/>
          </a:solidFill>
          <a:ln w="12700">
            <a:solidFill>
              <a:srgbClr val="2B3260"/>
            </a:solidFill>
            <a:prstDash val="solid"/>
          </a:ln>
        </p:spPr>
      </p:sp>
      <p:sp>
        <p:nvSpPr>
          <p:cNvPr id="8" name="box-1"/>
          <p:cNvSpPr/>
          <p:nvPr/>
        </p:nvSpPr>
        <p:spPr>
          <a:xfrm>
            <a:off x="6858000" y="19659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2B3260"/>
          </a:solidFill>
          <a:ln w="19050">
            <a:solidFill>
              <a:srgbClr val="F2A0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60920" y="178308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Every issue has a number and a screenshot</a:t>
            </a:r>
            <a:endParaRPr lang="en-US" sz="1500" dirty="0"/>
          </a:p>
        </p:txBody>
      </p:sp>
      <p:sp>
        <p:nvSpPr>
          <p:cNvPr id="10" name="check-2"/>
          <p:cNvSpPr/>
          <p:nvPr/>
        </p:nvSpPr>
        <p:spPr>
          <a:xfrm>
            <a:off x="6675120" y="2651760"/>
            <a:ext cx="4965192" cy="685800"/>
          </a:xfrm>
          <a:prstGeom prst="roundRect">
            <a:avLst>
              <a:gd name="adj" fmla="val 16000"/>
            </a:avLst>
          </a:prstGeom>
          <a:solidFill>
            <a:srgbClr val="2B3260"/>
          </a:solidFill>
          <a:ln w="12700">
            <a:solidFill>
              <a:srgbClr val="2B3260"/>
            </a:solidFill>
            <a:prstDash val="solid"/>
          </a:ln>
        </p:spPr>
      </p:sp>
      <p:sp>
        <p:nvSpPr>
          <p:cNvPr id="11" name="box-2"/>
          <p:cNvSpPr/>
          <p:nvPr/>
        </p:nvSpPr>
        <p:spPr>
          <a:xfrm>
            <a:off x="6858000" y="283464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2B3260"/>
          </a:solidFill>
          <a:ln w="19050">
            <a:solidFill>
              <a:srgbClr val="F2A0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60920" y="265176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Estimates are labelled "estimate"</a:t>
            </a:r>
            <a:endParaRPr lang="en-US" sz="1500" dirty="0"/>
          </a:p>
        </p:txBody>
      </p:sp>
      <p:sp>
        <p:nvSpPr>
          <p:cNvPr id="13" name="check-3"/>
          <p:cNvSpPr/>
          <p:nvPr/>
        </p:nvSpPr>
        <p:spPr>
          <a:xfrm>
            <a:off x="6675120" y="3520440"/>
            <a:ext cx="4965192" cy="685800"/>
          </a:xfrm>
          <a:prstGeom prst="roundRect">
            <a:avLst>
              <a:gd name="adj" fmla="val 16000"/>
            </a:avLst>
          </a:prstGeom>
          <a:solidFill>
            <a:srgbClr val="2B3260"/>
          </a:solidFill>
          <a:ln w="12700">
            <a:solidFill>
              <a:srgbClr val="2B3260"/>
            </a:solidFill>
            <a:prstDash val="solid"/>
          </a:ln>
        </p:spPr>
      </p:sp>
      <p:sp>
        <p:nvSpPr>
          <p:cNvPr id="14" name="box-3"/>
          <p:cNvSpPr/>
          <p:nvPr/>
        </p:nvSpPr>
        <p:spPr>
          <a:xfrm>
            <a:off x="6858000" y="370332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2B3260"/>
          </a:solidFill>
          <a:ln w="19050">
            <a:solidFill>
              <a:srgbClr val="F2A0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60920" y="35204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My log has 10 to 15 issues, scored and sorted</a:t>
            </a:r>
            <a:endParaRPr lang="en-US" sz="1500" dirty="0"/>
          </a:p>
        </p:txBody>
      </p:sp>
      <p:sp>
        <p:nvSpPr>
          <p:cNvPr id="16" name="check-4"/>
          <p:cNvSpPr/>
          <p:nvPr/>
        </p:nvSpPr>
        <p:spPr>
          <a:xfrm>
            <a:off x="6675120" y="4389120"/>
            <a:ext cx="4965192" cy="685800"/>
          </a:xfrm>
          <a:prstGeom prst="roundRect">
            <a:avLst>
              <a:gd name="adj" fmla="val 16000"/>
            </a:avLst>
          </a:prstGeom>
          <a:solidFill>
            <a:srgbClr val="2B3260"/>
          </a:solidFill>
          <a:ln w="12700">
            <a:solidFill>
              <a:srgbClr val="2B3260"/>
            </a:solidFill>
            <a:prstDash val="solid"/>
          </a:ln>
        </p:spPr>
      </p:sp>
      <p:sp>
        <p:nvSpPr>
          <p:cNvPr id="17" name="box-4"/>
          <p:cNvSpPr/>
          <p:nvPr/>
        </p:nvSpPr>
        <p:spPr>
          <a:xfrm>
            <a:off x="6858000" y="457200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2B3260"/>
          </a:solidFill>
          <a:ln w="19050">
            <a:solidFill>
              <a:srgbClr val="F2A0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60920" y="438912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My top 3 issues are Quick wins or Big projects</a:t>
            </a:r>
            <a:endParaRPr lang="en-US" sz="1500" dirty="0"/>
          </a:p>
        </p:txBody>
      </p:sp>
      <p:sp>
        <p:nvSpPr>
          <p:cNvPr id="19" name="check-5"/>
          <p:cNvSpPr/>
          <p:nvPr/>
        </p:nvSpPr>
        <p:spPr>
          <a:xfrm>
            <a:off x="6675120" y="5257800"/>
            <a:ext cx="4965192" cy="685800"/>
          </a:xfrm>
          <a:prstGeom prst="roundRect">
            <a:avLst>
              <a:gd name="adj" fmla="val 16000"/>
            </a:avLst>
          </a:prstGeom>
          <a:solidFill>
            <a:srgbClr val="2B3260"/>
          </a:solidFill>
          <a:ln w="12700">
            <a:solidFill>
              <a:srgbClr val="2B3260"/>
            </a:solidFill>
            <a:prstDash val="solid"/>
          </a:ln>
        </p:spPr>
      </p:sp>
      <p:sp>
        <p:nvSpPr>
          <p:cNvPr id="20" name="box-5"/>
          <p:cNvSpPr/>
          <p:nvPr/>
        </p:nvSpPr>
        <p:spPr>
          <a:xfrm>
            <a:off x="6858000" y="54406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2B3260"/>
          </a:solidFill>
          <a:ln w="19050">
            <a:solidFill>
              <a:srgbClr val="F2A0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60920" y="525780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All shared links open without asking for access</a:t>
            </a:r>
            <a:endParaRPr lang="en-US" sz="1500" dirty="0"/>
          </a:p>
        </p:txBody>
      </p:sp>
      <p:sp>
        <p:nvSpPr>
          <p:cNvPr id="22" name="card-84"/>
          <p:cNvSpPr/>
          <p:nvPr/>
        </p:nvSpPr>
        <p:spPr>
          <a:xfrm>
            <a:off x="548640" y="548640"/>
            <a:ext cx="23774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0" descr="/tmp/claude-0/-home-claude/dbcd6e45-a2e7-5d1a-8a13-3c1033e7fb3e/scratchpad/cap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58368"/>
            <a:ext cx="192024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reegami DMM">
  <a:themeElements>
    <a:clrScheme name="Oreegami DMM">
      <a:dk1>
        <a:srgbClr val="1B2140"/>
      </a:dk1>
      <a:lt1>
        <a:srgbClr val="FFFFFF"/>
      </a:lt1>
      <a:dk2>
        <a:srgbClr val="4A5072"/>
      </a:dk2>
      <a:lt2>
        <a:srgbClr val="F3F2FB"/>
      </a:lt2>
      <a:accent1>
        <a:srgbClr val="764BA2"/>
      </a:accent1>
      <a:accent2>
        <a:srgbClr val="667EEA"/>
      </a:accent2>
      <a:accent3>
        <a:srgbClr val="E8473F"/>
      </a:accent3>
      <a:accent4>
        <a:srgbClr val="2E9E6B"/>
      </a:accent4>
      <a:accent5>
        <a:srgbClr val="F2A03D"/>
      </a:accent5>
      <a:accent6>
        <a:srgbClr val="D9D6EE"/>
      </a:accent6>
      <a:hlink>
        <a:srgbClr val="667EEA"/>
      </a:hlink>
      <a:folHlink>
        <a:srgbClr val="764BA2"/>
      </a:folHlink>
    </a:clrScheme>
    <a:fontScheme name="Oreegami DMM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Oreegami Mauritius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Stage 2 - Analyse your client online</dc:title>
  <dc:subject>PptxGenJS Presentation</dc:subject>
  <dc:creator>Avinesh Bundhoo</dc:creator>
  <cp:lastModifiedBy>Avinesh Bundhoo</cp:lastModifiedBy>
  <cp:revision>1</cp:revision>
  <dcterms:created xsi:type="dcterms:W3CDTF">2026-10-17T05:26:17Z</dcterms:created>
  <dcterms:modified xsi:type="dcterms:W3CDTF">2026-10-17T05:26:17Z</dcterms:modified>
</cp:coreProperties>
</file>